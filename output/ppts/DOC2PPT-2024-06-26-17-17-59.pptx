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3" autoAdjust="0"/>
    <p:restoredTop sz="80038" autoAdjust="0"/>
  </p:normalViewPr>
  <p:slideViewPr>
    <p:cSldViewPr showGuides="1">
      <p:cViewPr varScale="1">
        <p:scale>
          <a:sx n="144" d="100"/>
          <a:sy n="144" d="100"/>
        </p:scale>
        <p:origin x="680" y="192"/>
      </p:cViewPr>
      <p:guideLst>
        <p:guide orient="horz" pos="165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64D89-293B-4647-8217-A55C58B11A05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E4B0E-F69D-4B1C-BC62-0EE27DD2CB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5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1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7.png"/><Relationship Id="rId5" Type="http://schemas.openxmlformats.org/officeDocument/2006/relationships/tags" Target="../tags/tag12.xml"/><Relationship Id="rId10" Type="http://schemas.openxmlformats.org/officeDocument/2006/relationships/image" Target="../media/image2.png"/><Relationship Id="rId4" Type="http://schemas.openxmlformats.org/officeDocument/2006/relationships/tags" Target="../tags/tag11.xml"/><Relationship Id="rId9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4.jpe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8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4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0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23.xml"/><Relationship Id="rId7" Type="http://schemas.openxmlformats.org/officeDocument/2006/relationships/image" Target="../media/image4.jpe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3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2.png"/><Relationship Id="rId5" Type="http://schemas.openxmlformats.org/officeDocument/2006/relationships/tags" Target="../tags/tag30.xml"/><Relationship Id="rId10" Type="http://schemas.openxmlformats.org/officeDocument/2006/relationships/image" Target="../media/image9.jpeg"/><Relationship Id="rId4" Type="http://schemas.openxmlformats.org/officeDocument/2006/relationships/tags" Target="../tags/tag29.xml"/><Relationship Id="rId9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81500"/>
            <a:ext cx="9144000" cy="7620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778" y="4171950"/>
            <a:ext cx="1381920" cy="98196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7174AEB-EA64-7E4C-5095-2734B8D13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215" y="1049284"/>
            <a:ext cx="7886700" cy="993775"/>
          </a:xfrm>
          <a:prstGeom prst="rect">
            <a:avLst/>
          </a:prstGeom>
        </p:spPr>
        <p:txBody>
          <a:bodyPr/>
          <a:lstStyle>
            <a:lvl1pPr>
              <a:defRPr lang="zh-CN" altLang="en-US" sz="4800" b="1" kern="1200" spc="50" dirty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9483431A-C8D9-8066-0D0F-318CA9A569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763712" y="2056579"/>
            <a:ext cx="6120680" cy="7207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zh-CN" altLang="en-US" sz="40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1pPr>
            <a:lvl2pPr>
              <a:defRPr lang="zh-CN" altLang="en-US" sz="40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2pPr>
            <a:lvl3pPr>
              <a:defRPr lang="zh-CN" altLang="en-US" sz="40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3pPr>
            <a:lvl4pPr>
              <a:defRPr lang="zh-CN" altLang="en-US" sz="40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4pPr>
            <a:lvl5pPr>
              <a:defRPr lang="zh-CN" altLang="en-US" sz="4000" b="1" kern="1200" spc="50" dirty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5pPr>
          </a:lstStyle>
          <a:p>
            <a:pPr lvl="0"/>
            <a:r>
              <a:rPr kumimoji="1" lang="zh-CN" altLang="en-US" dirty="0"/>
              <a:t>副标题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E7DB517-5073-3BCC-CFCC-A7FBC2F0DC4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39975" y="2790825"/>
            <a:ext cx="5040313" cy="9509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zh-CN" altLang="en-US" sz="24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lang="zh-CN" altLang="en-US" sz="24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lang="zh-CN" altLang="en-US" sz="24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lang="zh-CN" altLang="en-US" sz="24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lang="zh-CN" altLang="en-US" sz="2400" b="1" kern="1200" spc="50" dirty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主讲人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生成日期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977" y="-20706"/>
            <a:ext cx="9345337" cy="5256752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-29270" y="0"/>
            <a:ext cx="3312368" cy="5143500"/>
          </a:xfrm>
          <a:prstGeom prst="rect">
            <a:avLst/>
          </a:prstGeom>
          <a:gradFill>
            <a:gsLst>
              <a:gs pos="64000">
                <a:srgbClr val="C00000"/>
              </a:gs>
              <a:gs pos="0">
                <a:srgbClr val="FF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683568" y="1635646"/>
            <a:ext cx="1924685" cy="1800225"/>
            <a:chOff x="755551" y="773113"/>
            <a:chExt cx="1924685" cy="1800225"/>
          </a:xfrm>
        </p:grpSpPr>
        <p:sp>
          <p:nvSpPr>
            <p:cNvPr id="3" name="Oval 18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55551" y="773113"/>
              <a:ext cx="1800225" cy="1800225"/>
            </a:xfrm>
            <a:prstGeom prst="ellipse">
              <a:avLst/>
            </a:prstGeom>
            <a:solidFill>
              <a:srgbClr val="C00000"/>
            </a:solidFill>
            <a:ln w="38100">
              <a:solidFill>
                <a:srgbClr val="FFFFFF"/>
              </a:solidFill>
              <a:round/>
            </a:ln>
            <a:effectLst>
              <a:prstShdw prst="shdw17" dist="17961" dir="2700000">
                <a:srgbClr val="FFFFFF">
                  <a:gamma/>
                  <a:shade val="60000"/>
                  <a:invGamma/>
                  <a:alpha val="50000"/>
                </a:srgbClr>
              </a:prst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" name="Picture 188" descr="目录黑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lum bright="10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251" y="1133475"/>
              <a:ext cx="1724025" cy="730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标题 24"/>
            <p:cNvSpPr/>
            <p:nvPr>
              <p:custDataLst>
                <p:tags r:id="rId4"/>
              </p:custDataLst>
            </p:nvPr>
          </p:nvSpPr>
          <p:spPr bwMode="auto">
            <a:xfrm>
              <a:off x="902871" y="1652588"/>
              <a:ext cx="1777365" cy="704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60096E7E-97A6-A18D-BF6F-23369503CD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27984" y="1419622"/>
            <a:ext cx="4392166" cy="309681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1" lang="zh-CN" altLang="en-US" sz="28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kumimoji="1" lang="zh-CN" altLang="en-US" sz="28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>
              <a:defRPr kumimoji="1" lang="zh-CN" altLang="en-US" sz="28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>
              <a:defRPr kumimoji="1" lang="zh-CN" altLang="en-US" sz="28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>
              <a:defRPr kumimoji="1" lang="zh-CN" altLang="en-US" sz="28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4" y="0"/>
            <a:ext cx="4571429" cy="328571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81500"/>
            <a:ext cx="9144000" cy="762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702785"/>
            <a:ext cx="1285453" cy="1201448"/>
          </a:xfrm>
          <a:prstGeom prst="rect">
            <a:avLst/>
          </a:prstGeom>
        </p:spPr>
      </p:pic>
      <p:cxnSp>
        <p:nvCxnSpPr>
          <p:cNvPr id="18" name="直接连接符 17"/>
          <p:cNvCxnSpPr/>
          <p:nvPr userDrawn="1">
            <p:custDataLst>
              <p:tags r:id="rId4"/>
            </p:custDataLst>
          </p:nvPr>
        </p:nvCxnSpPr>
        <p:spPr>
          <a:xfrm flipV="1">
            <a:off x="4438429" y="1712792"/>
            <a:ext cx="0" cy="2520000"/>
          </a:xfrm>
          <a:prstGeom prst="line">
            <a:avLst/>
          </a:prstGeom>
          <a:ln w="12700">
            <a:solidFill>
              <a:srgbClr val="08080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 userDrawn="1"/>
        </p:nvGrpSpPr>
        <p:grpSpPr>
          <a:xfrm>
            <a:off x="2926261" y="1784802"/>
            <a:ext cx="1197175" cy="119717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" name="同心圆 19"/>
            <p:cNvSpPr/>
            <p:nvPr>
              <p:custDataLst>
                <p:tags r:id="rId5"/>
              </p:custDataLst>
            </p:nvPr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6"/>
              </p:custDataLst>
            </p:nvPr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" name="标题 8">
            <a:extLst>
              <a:ext uri="{FF2B5EF4-FFF2-40B4-BE49-F238E27FC236}">
                <a16:creationId xmlns:a16="http://schemas.microsoft.com/office/drawing/2014/main" id="{6BCA3423-7017-8658-8740-92FFF27EA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2212" y="1947512"/>
            <a:ext cx="774998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zh-CN" altLang="en-US" sz="5000" b="1" dirty="0">
                <a:solidFill>
                  <a:srgbClr val="FF0000"/>
                </a:solidFill>
                <a:latin typeface="+mj-ea"/>
                <a:cs typeface="+mn-cs"/>
              </a:defRPr>
            </a:lvl1pPr>
          </a:lstStyle>
          <a:p>
            <a:pPr marL="0" lvl="0" algn="l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D9DC98-1F31-8B63-22EF-89E8129A09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9907" y="1435487"/>
            <a:ext cx="4258597" cy="750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3200" b="1" kern="1200" dirty="0" smtClean="0">
                <a:solidFill>
                  <a:srgbClr val="FF0000"/>
                </a:solidFill>
                <a:latin typeface="+mj-ea"/>
                <a:ea typeface="+mn-ea"/>
                <a:cs typeface="+mn-cs"/>
              </a:defRPr>
            </a:lvl1pPr>
            <a:lvl2pPr>
              <a:defRPr kumimoji="1" lang="zh-CN" altLang="en-US" sz="3600" b="1" kern="1200" dirty="0" smtClean="0">
                <a:solidFill>
                  <a:srgbClr val="FF0000"/>
                </a:solidFill>
                <a:latin typeface="+mj-ea"/>
                <a:ea typeface="+mn-ea"/>
                <a:cs typeface="+mn-cs"/>
              </a:defRPr>
            </a:lvl2pPr>
            <a:lvl3pPr>
              <a:defRPr kumimoji="1" lang="zh-CN" altLang="en-US" sz="3600" b="1" kern="1200" dirty="0" smtClean="0">
                <a:solidFill>
                  <a:srgbClr val="FF0000"/>
                </a:solidFill>
                <a:latin typeface="+mj-ea"/>
                <a:ea typeface="+mn-ea"/>
                <a:cs typeface="+mn-cs"/>
              </a:defRPr>
            </a:lvl3pPr>
            <a:lvl4pPr>
              <a:defRPr kumimoji="1" lang="zh-CN" altLang="en-US" sz="3600" b="1" kern="1200" dirty="0" smtClean="0">
                <a:solidFill>
                  <a:srgbClr val="FF0000"/>
                </a:solidFill>
                <a:latin typeface="+mj-ea"/>
                <a:ea typeface="+mn-ea"/>
                <a:cs typeface="+mn-cs"/>
              </a:defRPr>
            </a:lvl4pPr>
            <a:lvl5pPr>
              <a:defRPr kumimoji="1" lang="zh-CN" altLang="en-US" sz="3600" b="1" kern="1200" dirty="0">
                <a:solidFill>
                  <a:srgbClr val="FF0000"/>
                </a:solidFill>
                <a:latin typeface="+mj-ea"/>
                <a:ea typeface="+mn-ea"/>
                <a:cs typeface="+mn-cs"/>
              </a:defRPr>
            </a:lvl5pPr>
          </a:lstStyle>
          <a:p>
            <a:pPr lvl="0"/>
            <a:r>
              <a:rPr kumimoji="1" lang="zh-CN" altLang="en-US" dirty="0"/>
              <a:t>小节名称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6C11C421-FCCD-6DE0-56F5-6359C3B007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49907" y="2335083"/>
            <a:ext cx="3970563" cy="2167821"/>
          </a:xfrm>
          <a:prstGeom prst="rect">
            <a:avLst/>
          </a:prstGeom>
        </p:spPr>
        <p:txBody>
          <a:bodyPr/>
          <a:lstStyle>
            <a:lvl1pPr>
              <a:defRPr kumimoji="1" lang="zh-CN" altLang="en-US" sz="2400" kern="1200" dirty="0" smtClean="0">
                <a:solidFill>
                  <a:srgbClr val="080808"/>
                </a:solidFill>
                <a:latin typeface="等线" charset="0"/>
                <a:ea typeface="等线" charset="0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</a:pPr>
            <a:r>
              <a:rPr kumimoji="1" lang="zh-CN" altLang="en-US" dirty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矩形 8"/>
          <p:cNvSpPr>
            <a:spLocks noChangeAspect="1"/>
          </p:cNvSpPr>
          <p:nvPr userDrawn="1"/>
        </p:nvSpPr>
        <p:spPr>
          <a:xfrm>
            <a:off x="152400" y="843558"/>
            <a:ext cx="8848725" cy="417646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30000"/>
                </a:schemeClr>
              </a:gs>
              <a:gs pos="46000">
                <a:schemeClr val="bg1">
                  <a:alpha val="89000"/>
                </a:schemeClr>
              </a:gs>
              <a:gs pos="100000">
                <a:schemeClr val="accent6">
                  <a:lumMod val="60000"/>
                  <a:lumOff val="40000"/>
                  <a:alpha val="70000"/>
                </a:schemeClr>
              </a:gs>
            </a:gsLst>
            <a:lin ang="2700000" scaled="1"/>
            <a:tileRect/>
          </a:gra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-37631" y="10"/>
            <a:ext cx="9172227" cy="941914"/>
          </a:xfrm>
          <a:prstGeom prst="rect">
            <a:avLst/>
          </a:prstGeom>
        </p:spPr>
      </p:pic>
      <p:sp>
        <p:nvSpPr>
          <p:cNvPr id="4" name="矩形 3"/>
          <p:cNvSpPr/>
          <p:nvPr userDrawn="1">
            <p:custDataLst>
              <p:tags r:id="rId1"/>
            </p:custDataLst>
          </p:nvPr>
        </p:nvSpPr>
        <p:spPr>
          <a:xfrm>
            <a:off x="947220" y="1356286"/>
            <a:ext cx="2147588" cy="644713"/>
          </a:xfrm>
          <a:prstGeom prst="rect">
            <a:avLst/>
          </a:prstGeom>
          <a:solidFill>
            <a:srgbClr val="BF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3629570" y="1356286"/>
            <a:ext cx="2016224" cy="644713"/>
          </a:xfrm>
          <a:prstGeom prst="rect">
            <a:avLst/>
          </a:prstGeom>
          <a:solidFill>
            <a:srgbClr val="8000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 userDrawn="1">
            <p:custDataLst>
              <p:tags r:id="rId3"/>
            </p:custDataLst>
          </p:nvPr>
        </p:nvSpPr>
        <p:spPr>
          <a:xfrm>
            <a:off x="6228184" y="1347614"/>
            <a:ext cx="2016224" cy="644713"/>
          </a:xfrm>
          <a:prstGeom prst="rect">
            <a:avLst/>
          </a:prstGeom>
          <a:solidFill>
            <a:srgbClr val="BF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1B65B2D-F8AC-444F-766B-2C62C8C598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9657" y="1503364"/>
            <a:ext cx="2146300" cy="50538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buNone/>
              <a:defRPr lang="zh-CN" altLang="en-US" sz="1800" b="1" kern="12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algn="ctr"/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标题 2">
            <a:extLst>
              <a:ext uri="{FF2B5EF4-FFF2-40B4-BE49-F238E27FC236}">
                <a16:creationId xmlns:a16="http://schemas.microsoft.com/office/drawing/2014/main" id="{FC848962-2F3D-D9DF-D8DF-9C722515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220" y="106914"/>
            <a:ext cx="7886700" cy="553445"/>
          </a:xfrm>
          <a:prstGeom prst="rect">
            <a:avLst/>
          </a:prstGeom>
        </p:spPr>
        <p:txBody>
          <a:bodyPr/>
          <a:lstStyle>
            <a:lvl1pPr marL="0" algn="l" defTabSz="685800" rtl="0" eaLnBrk="1" latinLnBrk="0" hangingPunct="1">
              <a:spcBef>
                <a:spcPct val="0"/>
              </a:spcBef>
              <a:buNone/>
              <a:defRPr lang="zh-CN" altLang="en-US" sz="2400" b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BDF4F2E-43F2-B151-2B77-E71F2C297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9025" y="1503363"/>
            <a:ext cx="2016125" cy="48895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lang="zh-CN" altLang="en-US" sz="1800" b="1" kern="1200" dirty="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lang="zh-CN" altLang="en-US" sz="1800" b="1" kern="1200" dirty="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2pPr>
            <a:lvl3pPr marL="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lang="zh-CN" altLang="en-US" sz="1800" b="1" kern="1200" dirty="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3pPr>
            <a:lvl4pPr marL="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lang="zh-CN" altLang="en-US" sz="1800" b="1" kern="1200" dirty="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4pPr>
            <a:lvl5pPr marL="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7FF5A28F-4C96-9681-8D26-8DB81E0658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28283" y="1503363"/>
            <a:ext cx="2016125" cy="48895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kumimoji="1" lang="zh-CN" altLang="en-US" sz="1800" b="1" kern="1200" dirty="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342900" lvl="0" indent="-342900" algn="ctr" defTabSz="914400" rtl="0" eaLnBrk="1" latinLnBrk="0" hangingPunct="1">
              <a:spcBef>
                <a:spcPct val="20000"/>
              </a:spcBef>
            </a:pP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617EA0C9-1E40-49F7-E97C-7954D78231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4224" y="2200546"/>
            <a:ext cx="7705725" cy="2163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矩形 8"/>
          <p:cNvSpPr>
            <a:spLocks noChangeAspect="1"/>
          </p:cNvSpPr>
          <p:nvPr userDrawn="1"/>
        </p:nvSpPr>
        <p:spPr>
          <a:xfrm>
            <a:off x="152400" y="843558"/>
            <a:ext cx="8848725" cy="417646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30000"/>
                </a:schemeClr>
              </a:gs>
              <a:gs pos="46000">
                <a:schemeClr val="bg1">
                  <a:alpha val="89000"/>
                </a:schemeClr>
              </a:gs>
              <a:gs pos="100000">
                <a:schemeClr val="accent6">
                  <a:lumMod val="60000"/>
                  <a:lumOff val="40000"/>
                  <a:alpha val="70000"/>
                </a:schemeClr>
              </a:gs>
            </a:gsLst>
            <a:lin ang="2700000" scaled="1"/>
            <a:tileRect/>
          </a:gra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37631" y="10"/>
            <a:ext cx="9172227" cy="941914"/>
          </a:xfrm>
          <a:prstGeom prst="rect">
            <a:avLst/>
          </a:prstGeom>
        </p:spPr>
      </p:pic>
      <p:sp>
        <p:nvSpPr>
          <p:cNvPr id="2" name="标题 2">
            <a:extLst>
              <a:ext uri="{FF2B5EF4-FFF2-40B4-BE49-F238E27FC236}">
                <a16:creationId xmlns:a16="http://schemas.microsoft.com/office/drawing/2014/main" id="{0023A188-B367-A513-14F1-858A4167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220" y="106914"/>
            <a:ext cx="7886700" cy="553445"/>
          </a:xfrm>
          <a:prstGeom prst="rect">
            <a:avLst/>
          </a:prstGeom>
        </p:spPr>
        <p:txBody>
          <a:bodyPr/>
          <a:lstStyle>
            <a:lvl1pPr marL="0" algn="l" defTabSz="685800" rtl="0" eaLnBrk="1" latinLnBrk="0" hangingPunct="1">
              <a:spcBef>
                <a:spcPct val="0"/>
              </a:spcBef>
              <a:buNone/>
              <a:defRPr lang="zh-CN" altLang="en-US" sz="2400" b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60CC7F-B0F5-2AF9-13D8-F485E60F7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8282" y="941924"/>
            <a:ext cx="8280400" cy="3887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-37631" y="10"/>
            <a:ext cx="9172227" cy="941914"/>
          </a:xfrm>
          <a:prstGeom prst="rect">
            <a:avLst/>
          </a:prstGeom>
        </p:spPr>
      </p:pic>
      <p:sp>
        <p:nvSpPr>
          <p:cNvPr id="20" name="Title Tile"/>
          <p:cNvSpPr/>
          <p:nvPr userDrawn="1">
            <p:custDataLst>
              <p:tags r:id="rId1"/>
            </p:custDataLst>
          </p:nvPr>
        </p:nvSpPr>
        <p:spPr bwMode="auto">
          <a:xfrm>
            <a:off x="539552" y="1851671"/>
            <a:ext cx="8136904" cy="2952328"/>
          </a:xfrm>
          <a:prstGeom prst="rect">
            <a:avLst/>
          </a:prstGeom>
          <a:gradFill rotWithShape="1">
            <a:gsLst>
              <a:gs pos="0">
                <a:srgbClr val="FF0517">
                  <a:shade val="51000"/>
                  <a:satMod val="130000"/>
                </a:srgbClr>
              </a:gs>
              <a:gs pos="80000">
                <a:srgbClr val="FF0517">
                  <a:shade val="93000"/>
                  <a:satMod val="130000"/>
                </a:srgbClr>
              </a:gs>
              <a:gs pos="100000">
                <a:srgbClr val="FF051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395536" y="915566"/>
            <a:ext cx="3669482" cy="612178"/>
            <a:chOff x="802226" y="2296781"/>
            <a:chExt cx="3883192" cy="583085"/>
          </a:xfrm>
        </p:grpSpPr>
        <p:sp>
          <p:nvSpPr>
            <p:cNvPr id="13" name="对角圆角矩形 12"/>
            <p:cNvSpPr/>
            <p:nvPr>
              <p:custDataLst>
                <p:tags r:id="rId3"/>
              </p:custDataLst>
            </p:nvPr>
          </p:nvSpPr>
          <p:spPr>
            <a:xfrm>
              <a:off x="935023" y="2360753"/>
              <a:ext cx="3750395" cy="519113"/>
            </a:xfrm>
            <a:prstGeom prst="round2DiagRect">
              <a:avLst>
                <a:gd name="adj1" fmla="val 50000"/>
                <a:gd name="adj2" fmla="val 0"/>
              </a:avLst>
            </a:prstGeom>
            <a:gradFill>
              <a:gsLst>
                <a:gs pos="89000">
                  <a:srgbClr val="C00000"/>
                </a:gs>
                <a:gs pos="35000">
                  <a:srgbClr val="FF3300"/>
                </a:gs>
              </a:gsLst>
              <a:lin ang="5400000" scaled="1"/>
            </a:gradFill>
            <a:ln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8100000" scaled="1"/>
                <a:tileRect/>
              </a:gra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五角星 13"/>
            <p:cNvSpPr/>
            <p:nvPr>
              <p:custDataLst>
                <p:tags r:id="rId4"/>
              </p:custDataLst>
            </p:nvPr>
          </p:nvSpPr>
          <p:spPr>
            <a:xfrm rot="20868462">
              <a:off x="802226" y="2296781"/>
              <a:ext cx="458994" cy="381068"/>
            </a:xfrm>
            <a:prstGeom prst="star5">
              <a:avLst/>
            </a:prstGeom>
            <a:gradFill flip="none" rotWithShape="1">
              <a:gsLst>
                <a:gs pos="17000">
                  <a:srgbClr val="FFF200"/>
                </a:gs>
                <a:gs pos="79000">
                  <a:srgbClr val="FF7A00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FF00"/>
              </a:solidFill>
            </a:ln>
            <a:effectLst>
              <a:outerShdw blurRad="38100" sx="102000" sy="102000" algn="ct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4499992" y="1923678"/>
            <a:ext cx="4104456" cy="28216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D8ACCB-F8F3-DB52-5CC9-2187363D43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9652" y="1960294"/>
            <a:ext cx="3764915" cy="27850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106CE0-EB50-90A2-1A3B-DF9B7118D8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16490" y="1942328"/>
            <a:ext cx="4103687" cy="28209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buFont typeface="Wingdings" panose="05000000000000000000" pitchFamily="2" charset="2"/>
              <a:buNone/>
              <a:defRPr kumimoji="1" lang="zh-CN" altLang="en-US" sz="16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85750" indent="-285750" algn="l" defTabSz="914400" rtl="0" eaLnBrk="1" latinLnBrk="0" hangingPunct="1">
              <a:lnSpc>
                <a:spcPct val="150000"/>
              </a:lnSpc>
              <a:buFont typeface="Wingdings" panose="05000000000000000000" pitchFamily="2" charset="2"/>
              <a:buChar char="l"/>
              <a:defRPr kumimoji="1" lang="zh-CN" altLang="en-US" sz="16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285750" indent="-285750" algn="l" defTabSz="914400" rtl="0" eaLnBrk="1" latinLnBrk="0" hangingPunct="1">
              <a:lnSpc>
                <a:spcPct val="150000"/>
              </a:lnSpc>
              <a:buFont typeface="Wingdings" panose="05000000000000000000" pitchFamily="2" charset="2"/>
              <a:buChar char="l"/>
              <a:defRPr kumimoji="1" lang="zh-CN" altLang="en-US" sz="16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285750" indent="-285750" algn="l" defTabSz="914400" rtl="0" eaLnBrk="1" latinLnBrk="0" hangingPunct="1">
              <a:lnSpc>
                <a:spcPct val="150000"/>
              </a:lnSpc>
              <a:buFont typeface="Wingdings" panose="05000000000000000000" pitchFamily="2" charset="2"/>
              <a:buChar char="l"/>
              <a:defRPr kumimoji="1" lang="zh-CN" altLang="en-US" sz="16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85750" indent="-285750" algn="l" defTabSz="914400" rtl="0" eaLnBrk="1" latinLnBrk="0" hangingPunct="1">
              <a:lnSpc>
                <a:spcPct val="150000"/>
              </a:lnSpc>
              <a:buFont typeface="Wingdings" panose="05000000000000000000" pitchFamily="2" charset="2"/>
              <a:buChar char="l"/>
              <a:defRPr kumimoji="1" lang="zh-CN" altLang="en-US" sz="16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8" name="标题 2">
            <a:extLst>
              <a:ext uri="{FF2B5EF4-FFF2-40B4-BE49-F238E27FC236}">
                <a16:creationId xmlns:a16="http://schemas.microsoft.com/office/drawing/2014/main" id="{A2418337-5249-C23C-F85C-BAACA37A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220" y="106914"/>
            <a:ext cx="7886700" cy="553445"/>
          </a:xfrm>
          <a:prstGeom prst="rect">
            <a:avLst/>
          </a:prstGeom>
        </p:spPr>
        <p:txBody>
          <a:bodyPr/>
          <a:lstStyle>
            <a:lvl1pPr marL="0" algn="l" defTabSz="685800" rtl="0" eaLnBrk="1" latinLnBrk="0" hangingPunct="1">
              <a:spcBef>
                <a:spcPct val="0"/>
              </a:spcBef>
              <a:buNone/>
              <a:defRPr lang="zh-CN" altLang="en-US" sz="2400" b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CCBEABCE-DEC4-35F4-2C03-BFDBE58340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7307" y="987574"/>
            <a:ext cx="4392612" cy="477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kumimoji="1" lang="zh-CN" altLang="en-US" sz="2400" b="0" kern="0" cap="all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-37631" y="10"/>
            <a:ext cx="9172227" cy="941914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251520" y="807443"/>
            <a:ext cx="3640143" cy="612179"/>
            <a:chOff x="802226" y="2296781"/>
            <a:chExt cx="3852145" cy="583086"/>
          </a:xfrm>
        </p:grpSpPr>
        <p:sp>
          <p:nvSpPr>
            <p:cNvPr id="17" name="对角圆角矩形 16"/>
            <p:cNvSpPr/>
            <p:nvPr>
              <p:custDataLst>
                <p:tags r:id="rId4"/>
              </p:custDataLst>
            </p:nvPr>
          </p:nvSpPr>
          <p:spPr>
            <a:xfrm>
              <a:off x="935026" y="2360754"/>
              <a:ext cx="3719345" cy="519113"/>
            </a:xfrm>
            <a:prstGeom prst="round2DiagRect">
              <a:avLst>
                <a:gd name="adj1" fmla="val 50000"/>
                <a:gd name="adj2" fmla="val 0"/>
              </a:avLst>
            </a:prstGeom>
            <a:gradFill>
              <a:gsLst>
                <a:gs pos="89000">
                  <a:srgbClr val="C00000"/>
                </a:gs>
                <a:gs pos="35000">
                  <a:srgbClr val="FF3300"/>
                </a:gs>
              </a:gsLst>
              <a:lin ang="5400000" scaled="1"/>
            </a:gradFill>
            <a:ln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8100000" scaled="1"/>
                <a:tileRect/>
              </a:gra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五角星 17"/>
            <p:cNvSpPr/>
            <p:nvPr>
              <p:custDataLst>
                <p:tags r:id="rId5"/>
              </p:custDataLst>
            </p:nvPr>
          </p:nvSpPr>
          <p:spPr>
            <a:xfrm rot="20868462">
              <a:off x="802226" y="2296781"/>
              <a:ext cx="458994" cy="381068"/>
            </a:xfrm>
            <a:prstGeom prst="star5">
              <a:avLst/>
            </a:prstGeom>
            <a:gradFill flip="none" rotWithShape="1">
              <a:gsLst>
                <a:gs pos="17000">
                  <a:srgbClr val="FFF200"/>
                </a:gs>
                <a:gs pos="79000">
                  <a:srgbClr val="FF7A00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FF00"/>
              </a:solidFill>
            </a:ln>
            <a:effectLst>
              <a:outerShdw blurRad="38100" sx="102000" sy="102000" algn="ct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Title Tile"/>
          <p:cNvSpPr/>
          <p:nvPr userDrawn="1">
            <p:custDataLst>
              <p:tags r:id="rId1"/>
            </p:custDataLst>
          </p:nvPr>
        </p:nvSpPr>
        <p:spPr bwMode="auto">
          <a:xfrm>
            <a:off x="377011" y="1491630"/>
            <a:ext cx="8515469" cy="3380119"/>
          </a:xfrm>
          <a:prstGeom prst="rect">
            <a:avLst/>
          </a:prstGeom>
          <a:gradFill rotWithShape="1">
            <a:gsLst>
              <a:gs pos="0">
                <a:srgbClr val="FF0517">
                  <a:shade val="51000"/>
                  <a:satMod val="130000"/>
                </a:srgbClr>
              </a:gs>
              <a:gs pos="80000">
                <a:srgbClr val="FF0517">
                  <a:shade val="93000"/>
                  <a:satMod val="130000"/>
                </a:srgbClr>
              </a:gs>
              <a:gs pos="100000">
                <a:srgbClr val="FF051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矩形 32"/>
          <p:cNvSpPr/>
          <p:nvPr userDrawn="1">
            <p:custDataLst>
              <p:tags r:id="rId2"/>
            </p:custDataLst>
          </p:nvPr>
        </p:nvSpPr>
        <p:spPr>
          <a:xfrm>
            <a:off x="3420377" y="1779662"/>
            <a:ext cx="5042599" cy="334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 userDrawn="1">
            <p:custDataLst>
              <p:tags r:id="rId3"/>
            </p:custDataLst>
          </p:nvPr>
        </p:nvSpPr>
        <p:spPr>
          <a:xfrm>
            <a:off x="588316" y="1582201"/>
            <a:ext cx="8270270" cy="31989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50E41DB-E75B-56E5-B737-C32EF86CC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220" y="106914"/>
            <a:ext cx="7886700" cy="553445"/>
          </a:xfrm>
          <a:prstGeom prst="rect">
            <a:avLst/>
          </a:prstGeom>
        </p:spPr>
        <p:txBody>
          <a:bodyPr/>
          <a:lstStyle>
            <a:lvl1pPr marL="0" algn="l" defTabSz="685800" rtl="0" eaLnBrk="1" latinLnBrk="0" hangingPunct="1">
              <a:spcBef>
                <a:spcPct val="0"/>
              </a:spcBef>
              <a:buNone/>
              <a:defRPr lang="zh-CN" altLang="en-US" sz="2400" b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80E027-5606-5586-E1DB-E4DF6ADF3A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7307" y="870532"/>
            <a:ext cx="4392612" cy="477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kumimoji="1" lang="zh-CN" altLang="en-US" sz="2400" b="0" kern="0" cap="all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小节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8302BC6-DD4A-5445-B1ED-980A7342EB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7132" y="1803582"/>
            <a:ext cx="7515225" cy="2451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14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lang="zh-CN" altLang="en-US" sz="14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>
              <a:defRPr lang="zh-CN" altLang="en-US" sz="14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>
              <a:defRPr lang="zh-CN" altLang="en-US" sz="14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kumimoji="1" lang="zh-CN" altLang="en-US" dirty="0"/>
              <a:t>信息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0"/>
            <a:ext cx="9144000" cy="5153914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81500"/>
            <a:ext cx="9144000" cy="7620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778" y="4171950"/>
            <a:ext cx="1381920" cy="98196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53914"/>
          </a:xfrm>
          <a:prstGeom prst="rect">
            <a:avLst/>
          </a:prstGeom>
        </p:spPr>
      </p:pic>
      <p:sp>
        <p:nvSpPr>
          <p:cNvPr id="3" name="TextBox 54"/>
          <p:cNvSpPr txBox="1"/>
          <p:nvPr userDrawn="1">
            <p:custDataLst>
              <p:tags r:id="rId5"/>
            </p:custDataLst>
          </p:nvPr>
        </p:nvSpPr>
        <p:spPr>
          <a:xfrm>
            <a:off x="1828361" y="1525885"/>
            <a:ext cx="67040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spc="50" dirty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敬请批评指正</a:t>
            </a:r>
            <a:r>
              <a:rPr lang="zh-CN" altLang="en-US" sz="7200" b="1" spc="50" dirty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+mj-ea"/>
                <a:ea typeface="+mj-ea"/>
              </a:rPr>
              <a:t>！</a:t>
            </a:r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4508500"/>
            <a:ext cx="9144000" cy="762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778" y="4298950"/>
            <a:ext cx="1381920" cy="981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/>
              <a:t>DOC2PPT: Automatic Presentation Slides Generation from Scientific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dirty="0"/>
              <a:t>Computer Science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Tsu-Jui Fu</a:t>
            </a:r>
          </a:p>
          <a:p>
            <a:r>
              <a:t>2024年06月26日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 Introduction</a:t>
            </a:r>
          </a:p>
          <a:p>
            <a:r>
              <a:t> Model</a:t>
            </a:r>
          </a:p>
          <a:p>
            <a:r>
              <a:t> Dataset</a:t>
            </a:r>
          </a:p>
          <a:p>
            <a:r>
              <a:t> Experiments</a:t>
            </a:r>
          </a:p>
          <a:p>
            <a:r>
              <a:t> Conclusion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Intro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Background</a:t>
            </a:r>
          </a:p>
          <a:p>
            <a:r>
              <a:t>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dirty="0"/>
              <a:t>Motivation</a:t>
            </a:r>
          </a:p>
          <a:p>
            <a:r>
              <a:rPr dirty="0"/>
              <a:t>Creating presentations is a challenging task that requires summarizing complex concepts and presenting them clearly and engagingly.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Key Issues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Key Issues</a:t>
            </a:r>
          </a:p>
          <a:p>
            <a:r>
              <a:t>Existing methods only partially address the challenges of multimodal document summarization and slide generation.</a:t>
            </a:r>
          </a:p>
          <a:p>
            <a:r>
              <a:t>Need for structured output, concise language, and visual elements.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Overview</a:t>
            </a:r>
          </a:p>
          <a:p>
            <a:r>
              <a:rPr dirty="0"/>
              <a:t>Document Reader</a:t>
            </a:r>
          </a:p>
          <a:p>
            <a:r>
              <a:rPr dirty="0"/>
              <a:t>Progress Tracker</a:t>
            </a:r>
          </a:p>
          <a:p>
            <a:r>
              <a:rPr dirty="0"/>
              <a:t>Object Placer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Architecture</a:t>
            </a:r>
          </a:p>
          <a:p>
            <a:r>
              <a:t>We propose a hierarchical recurrent sequence-to-sequence model to generate slides from scientific documents.</a:t>
            </a:r>
          </a:p>
          <a:p>
            <a:r>
              <a:t>The model consists of four main modules: Document Reader (DR), Progress Tracker (PT), Object Placer (OP), and Paraphraser (PAR).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Reader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● Functionality</a:t>
            </a:r>
          </a:p>
          <a:p>
            <a:r>
              <a:t>     Extracts sentence and figure embeddings from the input document.</a:t>
            </a:r>
          </a:p>
          <a:p>
            <a:r>
              <a:t>     Projects them into a shared embedding space for multimodal representation.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Tracker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● Functionality</a:t>
            </a:r>
          </a:p>
          <a:p>
            <a:r>
              <a:t>     Operates as a state machine in a hierarchical space (sections, slides, objects).</a:t>
            </a:r>
          </a:p>
          <a:p>
            <a:r>
              <a:t>     Learns a policy to determine when to proceed to the next section/slide.</a:t>
            </a:r>
          </a:p>
          <a:p>
            <a:r>
              <a:t>     Uses hierarchical RNNs to encode latent spaces for each level of the hierarchy.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Placer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● Functionality</a:t>
            </a:r>
          </a:p>
          <a:p>
            <a:r>
              <a:t>     Selects an object (sentence or figure) from the current section based on attention scores.</a:t>
            </a:r>
          </a:p>
          <a:p>
            <a:r>
              <a:t>     Predicts the location and size of the object on the current slide using bounding box prediction.</a:t>
            </a:r>
          </a:p>
          <a:p>
            <a:r>
              <a:t>     Resizes figures and paraphrases sentences to fit the layout.</a:t>
            </a:r>
          </a:p>
          <a:p>
            <a:r>
              <a:t>● Paraphrasing</a:t>
            </a:r>
          </a:p>
          <a:p>
            <a:r>
              <a:t>     Employs a Seq2Seq model with a copy mechanism to paraphrase sentences into a concise form suitable for slides.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Collection</a:t>
            </a:r>
          </a:p>
          <a:p>
            <a:r>
              <a:t>Processing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Data Source</a:t>
            </a:r>
          </a:p>
          <a:p>
            <a:r>
              <a:t>We collected 5,873 pairs of scientific documents and their corresponding slide decks from computer vision, natural language processing, and machine learning conferences.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● Key Steps</a:t>
            </a:r>
          </a:p>
          <a:p>
            <a:r>
              <a:t>     Text and figure extraction from documents and slides.</a:t>
            </a:r>
          </a:p>
          <a:p>
            <a:r>
              <a:t>     Slide stemming to remove near-duplicate slides.</a:t>
            </a:r>
          </a:p>
          <a:p>
            <a:r>
              <a:t>     Slide-section matching to align slides with document sections.</a:t>
            </a:r>
          </a:p>
          <a:p>
            <a:r>
              <a:t>     Sentence and figure matching to establish correspondences between slides and document content.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Experiments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Metrics</a:t>
            </a:r>
          </a:p>
          <a:p>
            <a:r>
              <a:t>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● ROUGE-SL</a:t>
            </a:r>
          </a:p>
          <a:p>
            <a:r>
              <a:t>     Adapts ROUGE score to account for slide length, considering the number of slides as a proxy for text length.</a:t>
            </a:r>
          </a:p>
          <a:p>
            <a:r>
              <a:t>● LC-FS</a:t>
            </a:r>
          </a:p>
          <a:p>
            <a:r>
              <a:t>     Measures the quality of figures by comparing the order and presence of figures in the generated slides to the ground truth using Longest Common Subsequence (LCS).</a:t>
            </a:r>
          </a:p>
          <a:p>
            <a:r>
              <a:t>● TFR</a:t>
            </a:r>
          </a:p>
          <a:p>
            <a:r>
              <a:t>     Evaluates text-figure relevance using a modified ROUGE score to assess the coherence between text and figures on a slide.</a:t>
            </a:r>
          </a:p>
          <a:p>
            <a:r>
              <a:t>● mIoU</a:t>
            </a:r>
          </a:p>
          <a:p>
            <a:r>
              <a:t>     Measures layout quality by calculating the mean Intersection over Union (mIoU) between predicted and ground truth bounding boxes.</a:t>
            </a:r>
          </a:p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Human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Ablation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Our hierarchical model outperforms a flat baseline across all metrics. Ablation studies demonstrate the effectiveness of paraphrasing, text-figure matching, and layout prediction. Human evaluation confirms the superiority of our approach in generating high-quality slides.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Summary</a:t>
            </a:r>
          </a:p>
          <a:p>
            <a:r>
              <a:t>Future 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Key Takeaways</a:t>
            </a:r>
          </a:p>
          <a:p>
            <a:r>
              <a:t>We introduced DOC2PPT, a novel task and dataset for automatic slide generation from scientific documents.</a:t>
            </a:r>
          </a:p>
          <a:p>
            <a:r>
              <a:t>Our proposed hierarchical sequence-to-sequence model effectively captures the structure and content of slides, outperforming baselines and demonstrating promising results.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Next Steps</a:t>
            </a:r>
          </a:p>
          <a:p>
            <a:r>
              <a:t>Explore more sophisticated layout generation techniques and incorporate additional visual elements.</a:t>
            </a:r>
          </a:p>
          <a:p>
            <a:r>
              <a:t>Investigate methods for improving the coherence and fluency of generated text.</a:t>
            </a:r>
          </a:p>
          <a:p>
            <a:r>
              <a:t>Extend the approach to other domains and presentation styles.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熊猫111"/>
  <p:tag name="KSO_WPP_MARK_KEY" val="678e2a4f-925c-4161-8fc7-6a13bdeb30b2"/>
  <p:tag name="COMMONDATA" val="eyJoZGlkIjoiMWQxMWI4OGQyYmUzYmM2ZDM5OWE1MWE1OTQzM2I1Mz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610</Words>
  <Application>Microsoft Macintosh PowerPoint</Application>
  <PresentationFormat>全屏显示(16:9)</PresentationFormat>
  <Paragraphs>96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华文行楷</vt:lpstr>
      <vt:lpstr>宋体</vt:lpstr>
      <vt:lpstr>微软雅黑</vt:lpstr>
      <vt:lpstr>Arial</vt:lpstr>
      <vt:lpstr>Calibri</vt:lpstr>
      <vt:lpstr>Wingdings</vt:lpstr>
      <vt:lpstr>Office 主题​​</vt:lpstr>
      <vt:lpstr>DOC2PPT: Automatic Presentation Slides Generation from Scientific Documents</vt:lpstr>
      <vt:lpstr>PowerPoint 演示文稿</vt:lpstr>
      <vt:lpstr>01</vt:lpstr>
      <vt:lpstr>Background</vt:lpstr>
      <vt:lpstr>Challenges</vt:lpstr>
      <vt:lpstr>02</vt:lpstr>
      <vt:lpstr>Overview</vt:lpstr>
      <vt:lpstr>Document Reader</vt:lpstr>
      <vt:lpstr>Progress Tracker</vt:lpstr>
      <vt:lpstr>Object Placer</vt:lpstr>
      <vt:lpstr>03</vt:lpstr>
      <vt:lpstr>Collection</vt:lpstr>
      <vt:lpstr>Processing</vt:lpstr>
      <vt:lpstr>04</vt:lpstr>
      <vt:lpstr>Metrics</vt:lpstr>
      <vt:lpstr>Results</vt:lpstr>
      <vt:lpstr>05</vt:lpstr>
      <vt:lpstr>Summary</vt:lpstr>
      <vt:lpstr>Future Work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熊猫111</dc:title>
  <dc:creator/>
  <cp:lastModifiedBy>Less Force</cp:lastModifiedBy>
  <cp:revision>447</cp:revision>
  <dcterms:created xsi:type="dcterms:W3CDTF">2024-01-10T10:57:08Z</dcterms:created>
  <dcterms:modified xsi:type="dcterms:W3CDTF">2024-06-26T09:19:12Z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DCD320B716994978B211FC1781A7DEF5</vt:lpwstr>
  </property>
</Properties>
</file>